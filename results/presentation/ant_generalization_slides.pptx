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6.svg" ContentType="image/svg+xml"/>
  <Override PartName="/ppt/media/image17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4" r:id="rId17"/>
    <p:sldId id="265" r:id="rId19"/>
    <p:sldId id="266" r:id="rId20"/>
    <p:sldId id="267" r:id="rId21"/>
    <p:sldId id="259" r:id="rId5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62" r:id="rId9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ExtraLight" panose="020B0600000101010101" charset="-127"/>
      <p:regular r:id="rId11"/>
    </p:embeddedFont>
    <p:embeddedFont>
      <p:font typeface="Pretendard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064" y="1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다리 로봇은 바퀴가 못 가는 곳을 가기 위해 존재합니다. 그런데 그런 곳의 바닥은 미리 알 수 없고, 한 번 이동하는 동안에도 계속 바뀝니다. 넘어지면 임무가 끝나고, 시뮬레이션에서 학습한 정책에게는 현실 자체가 처음 보는 환경입니다. 그래서 이 과제의 '처음 보는 환경에서 걷기'는 보행 로봇을 실제로 쓸 수 있느냐의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Baseline은 완벽하게 평평한 무한 평면 하나에서만 학습했습니다. 같은 평지를 삼각형 메쉬로 바꾸기만 해도 점수가 68% 떨어집니다. 반면 평면 위에서 마찰 숫자만 바꾸면 거의 변하지 않습니다. 즉 Baseline을 무너뜨리는 것은 마찰 값이 아니라 발이 바닥에 닿는 방식의 차이입니다.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연구 질문은 '처음 보는 환경에서 Ant는 왜 넘어지는가'입니다. 원인을 세 가지로 정리했습니다. 한 가지 바닥만 경험했고, 바닥을 느낄 감각이 없고, 앞을 볼 수 없습니다. 이 중 핵심은 두 번째, 바닥을 느낄 수 없다는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사람은 빙판을 밟는 순간 미끄러움을 느끼고 보폭을 줄입니다. Baseline Ant에게 없는 것이 바로 이 감각입니다. 그래서 세 가지 가설을 세웠습니다. H1은 원인 가설, H2는 추정 가설, H3는 일반화 가설입니다. 각 가설은 뒤에서 별도의 비교로 검증합니다.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위는 학습 지형 다섯 종류, 아래는 검증용으로만 쓴 지형 세 종류입니다. 파도와 장애물은 학습 때 한 번도 보지 못한 종류이고, 거친 요철은 학습보다 1.7배 거칩니다.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왼쪽이 Baseline 학습 환경, 가운데가 저희 학습 환경, 오른쪽이 검증 환경입니다. 검증 환경은 학습에 한 번도 쓰지 않았고, 지형 종류, 바닥 재질, 마찰과 질량 범위가 모두 학습과 다릅니다. 평가는 공식 스크립트로, 원본 보상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왼쪽은 학습 구조입니다. 먼저 정답 바닥 정보를 받는 교사를 학습하고, 학생이 정답 없이 교사의 행동을 따라 하도록 학습합니다. 실제로 배포하는 것은 학생 하나입니다. 오른쪽은 추가한 센서와, 각 센서가 해결하는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가설마다 무엇과 무엇을 비교할지 미리 정했습니다. 오라클은 처음 보는 환경에서 직접 학습한 정책으로, 제출용이 아니라 도달 가능한 상한을 재기 위한 기준입니다. 아래 네 가지는 비교를 공정하게 만들기 위한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 정책인 학생은 처음 보는 환경에서 64.6점으로 Baseline 36.3점보다 78% 높습니다. 처음 보는 환경에서 직접 학습한 오라클 67.2점의 96%입니다. 기존 환경에서도 138.4점으로 Baseline보다 낮아지지 않았습니다. 초록색 교사는 정답 정보를 받는 참고용입니다.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결과를 가설별로 보겠습니다. 교사는 바닥을 알기 때문에 평지에서 Baseline보다 빨리 달리고 험지에서도 버팁니다. 평지와 험지 사이의 trade-off가 사라집니다. 학생은 정답 없이 교사 평지 성능의 95%를 되찾았고, 처음 보는 환경에서는 오히려 교사보다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왼쪽은 지형별 결과입니다. 처음 보는 지형 세 종류 모두에서 27~30점씩 올랐습니다. 특정 지형에만 맞춘 개선이 아니라는 뜻입니다. 오른쪽은 마찰을 0.1부터 2.0까지 바꾼 결과입니다. 학습 범위 밖을 포함해 아홉 조건 모두에서 Baseline보다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그래프는 시간에 따라 넘어지지 않은 로봇의 비율, 오른쪽은 전진 거리입니다. Ours는 16초 동안 68 m를 가서 Baseline의 39 m보다 훨씬 멉니다. 대신 넘어지는 로봇도 늘었습니다. 지형이 멀리 갈수록 어려워지기 때문에, 더 멀리 간 로봇이 더 어려운 구간을 만난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왼쪽은 보상 항목별 분해입니다. 늘어난 점수의 거의 전부가 전진 항목에서 나왔고, 에너지 같은 비용 항목은 거의 같습니다. 같은 비용으로 더 멀리 간 것입니다. 오른쪽은 학습을 다른 seed로 반복한 결과입니다. 처음 보는 환경에서의 향상은 안정적으로 재현되고, 기존 환경은 두 번 모두 Baseline 이상이지만 편차가 있어 '유지'로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처음에 정의한 세 문제로 돌아가 보겠습니다. 한 가지 바닥만 경험한 문제와 바닥을 느낄 수 없는 문제는 다양한 바닥 학습과 발 접촉 센서, 기록으로 해결했습니다. 앞을 볼 수 없는 문제는 대부분 해결했지만, 학습보다 거친 요철에서는 부분적입니다.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한계는 다섯 가지입니다. 빠른 보법을 택한 대가로 넘어짐이 늘었고, 학습보다 거친 지형에서는 학생이 교사보다 약합니다. 또 이 시뮬레이터의 메쉬 바닥에서는 처음 보는 환경에서 직접 학습해도 67점이 상한이라, 정책만으로는 평면 수준에 도달할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부차적으로 시도한 두 실험은 음성 결과였습니다. 학습 범위를 넓히면 저마찰에는 도움이 되지만 기존 환경 성능이 Baseline 아래로 떨어졌고, IMU는 기존 정보와 겹쳐 이득이 없었습니다. 앞으로는 위험을 인지해 감속하는 보법, 더 긴 기억, 학습 지형 다양화, 반복 실험 확대, 실제 로봇 전이를 검토하겠습니다.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1.svg"/><Relationship Id="rId5" Type="http://schemas.openxmlformats.org/officeDocument/2006/relationships/image" Target="../media/image2.svg"/><Relationship Id="rId6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8.svg"/><Relationship Id="rId4" Type="http://schemas.openxmlformats.org/officeDocument/2006/relationships/image" Target="../media/image3.sv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Relationship Id="rId4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svg"/><Relationship Id="rId7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svg"/><Relationship Id="rId7" Type="http://schemas.openxmlformats.org/officeDocument/2006/relationships/notesSlide" Target="../notesSlides/notesSlide2.xml"/><Relationship Id="rId8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svg"/><Relationship Id="rId7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svg"/><Relationship Id="rId7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3.svg"/><Relationship Id="rId7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3.svg"/><Relationship Id="rId7" Type="http://schemas.openxmlformats.org/officeDocument/2006/relationships/notesSlide" Target="../notesSlides/notesSlide7.xml"/><Relationship Id="rId8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3.svg"/><Relationship Id="rId7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2.xml"/><Relationship Id="rId6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3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3" Type="http://schemas.openxmlformats.org/officeDocument/2006/relationships/image" Target="../media/image7.sv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3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3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147800" y="8661400"/>
            <a:ext cx="38481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1" i="0" u="none" strike="noStrike">
                <a:solidFill>
                  <a:srgbClr val="0E6D62"/>
                </a:solidFill>
                <a:latin typeface="Pretendard ExtraLight"/>
                <a:ea typeface="Pretendard ExtraLight"/>
                <a:cs typeface="Pretendard ExtraLight"/>
              </a:rPr>
              <a:t>9조: 윤다빈, 이두현, 이소연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2819400"/>
            <a:ext cx="8851900" cy="1320800"/>
          </a:xfrm>
          <a:prstGeom prst="rect">
            <a:avLst/>
          </a:prstGeom>
        </p:spPr>
        <p:txBody>
          <a:bodyPr lIns="0" tIns="92855" rIns="0" bIns="92855" rtlCol="0" anchor="ctr"/>
          <a:lstStyle/>
          <a:p>
            <a:pPr lvl="0" algn="l">
              <a:lnSpc>
                <a:spcPct val="99600"/>
              </a:lnSpc>
            </a:pPr>
            <a:r>
              <a:rPr lang="en-US" sz="7311" b="0" i="0" u="none" strike="noStrike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로보틱스시뮬레이션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7200" y="2235200"/>
            <a:ext cx="55499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2026년 2학기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7200" y="4279900"/>
            <a:ext cx="76200" cy="1041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05000" y="4292600"/>
            <a:ext cx="51181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E6D62"/>
                </a:solidFill>
                <a:latin typeface="Pretendard Regular"/>
                <a:ea typeface="Pretendard Regular"/>
                <a:cs typeface="Pretendard Regular"/>
              </a:rPr>
              <a:t>실습 과제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4876800"/>
            <a:ext cx="5092700" cy="44450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 algn="l">
              <a:lnSpc>
                <a:spcPct val="99600"/>
              </a:lnSpc>
            </a:pPr>
            <a:r>
              <a:rPr lang="en-US" sz="2400" b="0" i="0" u="none" strike="noStrike">
                <a:solidFill>
                  <a:srgbClr val="0E6D62"/>
                </a:solidFill>
                <a:latin typeface="Pretendard Regular"/>
                <a:ea typeface="Pretendard Regular"/>
                <a:cs typeface="Pretendard Regular"/>
              </a:rPr>
              <a:t>처음 보는 환경에서도 잘 걷는 Ant 만들기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0" y="2590800"/>
            <a:ext cx="8661400" cy="10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651500" y="2819400"/>
            <a:ext cx="79883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/>
                </a:solidFill>
                <a:latin typeface="Pretendard Regular"/>
                <a:ea typeface="Pretendard Regular"/>
                <a:cs typeface="Pretendard Regular"/>
              </a:rPr>
              <a:t>Problem Formulation &amp; Research Hypothesis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99000" y="2819400"/>
            <a:ext cx="10287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>
                    <a:alpha val="60000"/>
                  </a:srgbClr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3300" y="3949700"/>
            <a:ext cx="8661400" cy="1016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702300" y="4191000"/>
            <a:ext cx="78867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/>
                </a:solidFill>
                <a:latin typeface="Pretendard Regular"/>
                <a:ea typeface="Pretendard Regular"/>
                <a:cs typeface="Pretendard Regular"/>
              </a:rPr>
              <a:t>Experimental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2500" y="4191000"/>
            <a:ext cx="10287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>
                    <a:alpha val="60000"/>
                  </a:srgbClr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3300" y="5321300"/>
            <a:ext cx="8661400" cy="1016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702300" y="5562600"/>
            <a:ext cx="78867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/>
                </a:solidFill>
                <a:latin typeface="Pretendard Regular"/>
                <a:ea typeface="Pretendard Regular"/>
                <a:cs typeface="Pretendard Regular"/>
              </a:rPr>
              <a:t>Performance Evaluation &amp;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2500" y="5562600"/>
            <a:ext cx="10287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>
                    <a:alpha val="60000"/>
                  </a:srgbClr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3300" y="6692900"/>
            <a:ext cx="8661400" cy="1016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702300" y="6934200"/>
            <a:ext cx="78867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/>
                </a:solidFill>
                <a:latin typeface="Pretendard Regular"/>
                <a:ea typeface="Pretendard Regular"/>
                <a:cs typeface="Pretendard Regular"/>
              </a:rPr>
              <a:t>Future Directions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62500" y="6934200"/>
            <a:ext cx="1028700" cy="558800"/>
          </a:xfrm>
          <a:prstGeom prst="rect">
            <a:avLst/>
          </a:prstGeom>
        </p:spPr>
        <p:txBody>
          <a:bodyPr lIns="0" tIns="38100" rIns="0" bIns="3810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4C4C4C">
                    <a:alpha val="60000"/>
                  </a:srgbClr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3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alphaModFix amt="3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048500" y="1181100"/>
            <a:ext cx="42037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ctr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90551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Experimental Design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190749" y="1600990"/>
            <a:ext cx="139065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학습 및 검증 환경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34DDBEA-BD86-33CE-064F-99CC83DDE3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89" y="2082800"/>
            <a:ext cx="5805827" cy="7353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E4667E-B2EB-7EA0-E989-3786D5E61B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204" y="2070100"/>
            <a:ext cx="10218394" cy="229777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9A6DD3-E521-BAA7-02CC-F49A0CC61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988" y="6041973"/>
            <a:ext cx="8750825" cy="32689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36700" y="3962400"/>
            <a:ext cx="13004800" cy="2374900"/>
          </a:xfrm>
          <a:prstGeom prst="rect">
            <a:avLst/>
          </a:prstGeom>
        </p:spPr>
        <p:txBody>
          <a:bodyPr lIns="0" tIns="167386" rIns="0" bIns="167386" rtlCol="0" anchor="ctr"/>
          <a:lstStyle/>
          <a:p>
            <a:pPr lvl="0" algn="l">
              <a:lnSpc>
                <a:spcPct val="99600"/>
              </a:lnSpc>
            </a:pPr>
            <a:r>
              <a:rPr lang="en-US" sz="13180" b="0" i="0" u="none" strike="noStrike" cap="all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Thank You!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827713" y="-73382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254000"/>
            <a:ext cx="9055100" cy="16129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Problem Formulation &amp; Research Hypothesis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연구 배경: 보행 로봇의 가치는 '처음 보는 바닥'에서 결정된다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7909560" cy="278892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① 다리는 '길이 없는 곳'을 위해 존재한다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포장된 평지에서는 바퀴가 더 빠르고, 싸고, 효율적이다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다리 로봇이 필요한 곳: </a:t>
            </a: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계단·잔해·자갈·경사·진흙</a:t>
            </a: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처럼 바퀴가 갈 수 없는 곳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예) 재난 현장 수색, 플랜트·터널 점검, 행성 탐사, 농업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697480"/>
            <a:ext cx="7909560" cy="278892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② 실제 경로의 바닥은 미리 알 수 없고, 계속 바뀐다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점검 로봇의 하루 경로: 매끈한 에폭시 바닥 → 물기 있는 철판 → 격자 그레이팅 → 자갈 야적장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모든 바닥을 미리 학습시킬 수 없다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→ </a:t>
            </a: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하나의 정책이 현장에서 바로 적응해야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742432"/>
            <a:ext cx="7909560" cy="278892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③ 넘어지면 임무가 끝난다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넘어짐 = 임무 중단 + 장비 파손 + 사람의 직접 회수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예) NASA 화성 로버 Spirit: 2009년 부드러운 토양에 빠져 탈출하지 못했고, 결국 이동 임무를 종료했다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→ 지면 특성을 잘못 판단한 대가는 임무 전체다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5742432"/>
            <a:ext cx="7909560" cy="278892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④ 시뮬레이션 정책에게 현실은 늘 '처음 보는 환경'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실제 마찰·접촉·질량은 시뮬레이터 설정값과 다르다 (Sim-to-Real gap)</a:t>
            </a:r>
          </a:p>
          <a:p>
            <a:pPr algn="l" marL="266700" indent="-25336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처음 보는 환경에서 걷는 능력 = </a:t>
            </a: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시뮬레이션에서 학습한 정책을 실제 로봇에 옮기기 위한 전제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8732520"/>
            <a:ext cx="1609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1" i="0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Ant(몸통 + 다리 4개, 관절 8개) = 4족 보행 로봇의 단순화 모델. 이 과제는 '학습한 바닥 밖에서도 걷는 능력'의 원리를 검증한다.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827713" y="-73382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254000"/>
            <a:ext cx="9055100" cy="16129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Problem Formulation &amp; Research Hypothesis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Baseline의 한계: 지형 '모양'이 같아도, 바닥의 '느낌'이 바뀌면 무너진다</a:t>
            </a:r>
          </a:p>
        </p:txBody>
      </p:sp>
      <p:pic>
        <p:nvPicPr>
          <p:cNvPr id="8" name="Picture 7" descr="fig1_motivation_baseline_collap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697480"/>
            <a:ext cx="9509760" cy="50494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7280" y="7909560"/>
            <a:ext cx="9326880" cy="128016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55448" bIns="155448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평면 바닥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: 수학적으로 완벽히 매끈한 무한 평면 → 발이 닿는 방식이 항상 일정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메쉬 바닥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: 실제 지형처럼 작은 삼각형 면을 이어 붙인 바닥 → 모양은 평지여도 반발·미끄러짐이 다르다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0" y="2697480"/>
            <a:ext cx="6400800" cy="214884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Baseline이 학습한 세계</a:t>
            </a:r>
          </a:p>
          <a:p>
            <a:pPr algn="l" marL="254000" indent="-24130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무한히 넓은 </a:t>
            </a:r>
            <a:r>
              <a:rPr sz="20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완벽한 평면 하나</a:t>
            </a:r>
          </a:p>
          <a:p>
            <a:pPr algn="l" marL="254000" indent="-24130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20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마찰 1.0 고정 · 질량 고정 · 외부 충격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502920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EB6834"/>
                </a:solidFill>
                <a:latin typeface="Pretendard Bold"/>
                <a:ea typeface="Pretendard Bold"/>
                <a:cs typeface="Pretendard Bold"/>
              </a:rPr>
              <a:t>−68%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같은 평지, 메쉬 바닥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129.6 → 41.7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0" y="502920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EB6834"/>
                </a:solidFill>
                <a:latin typeface="Pretendard Bold"/>
                <a:ea typeface="Pretendard Bold"/>
                <a:cs typeface="Pretendard Bold"/>
              </a:rPr>
              <a:t>−72%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처음 보는 지형·물성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129.6 → 36.3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6949440"/>
            <a:ext cx="6400800" cy="224028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2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반대로, 평면에서 마찰만 바꾸면?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마찰 0.3 / 0.5 / 0.7 / 1.0 → 120 / 126 / 131 / 130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→ 원인은 마찰 숫자가 아니라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바닥과 접촉하는 방식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827713" y="-73382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254000"/>
            <a:ext cx="9055100" cy="16129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Problem Formulation &amp; Research Hypothesis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문제 정의: Ant는 지금 밟고 있는 바닥이 어떤 바닥인지 모른다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51760"/>
            <a:ext cx="16093440" cy="8686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94310" bIns="194310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4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연구 질문  처음 보는 환경에서 Ant의 보행 성능은 왜 떨어지는가?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749039"/>
            <a:ext cx="5184648" cy="5440680"/>
          </a:xfrm>
          <a:prstGeom prst="roundRect">
            <a:avLst>
              <a:gd name="adj" fmla="val 4409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P1. 한 가지 바닥만 경험했다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학습 분포 과적합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평생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한 종류의 바닥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에서만 학습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→ 그 바닥에서 가장 빠른 질주 보법(평균 8.6 m/s)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하나만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안다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바닥이 바뀌어도 같은 보법으로 달린다 → 미끄러지거나 발이 걸려 넘어짐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처음 보는 환경 평균 전진 속도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2.6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6248" y="3749039"/>
            <a:ext cx="5184648" cy="5440680"/>
          </a:xfrm>
          <a:prstGeom prst="roundRect">
            <a:avLst>
              <a:gd name="adj" fmla="val 4409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P2. 바닥을 느낄 수 없다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바닥 물성의 관측 불가능성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받는 정보 60개: 몸통 높이·속도·기울기, 목표 방향, 관절 각도·속도, 발목 관절에 걸리는 힘, 직전 행동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없는 것 ①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발이 지면을 얼마나, 어느 방향으로 미는지 / 미끄러지는지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없는 것 ②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과거 기록 (1/60초 한 순간만 봄)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→ 빙판인지 아스팔트인지 구분할 근거가 없어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보법을 바꿀 수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15215" y="3749039"/>
            <a:ext cx="5184648" cy="5440680"/>
          </a:xfrm>
          <a:prstGeom prst="roundRect">
            <a:avLst>
              <a:gd name="adj" fmla="val 4409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P3. 앞을 볼 수 없다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지형 인식 부재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지형 높이를 재는 센서가 없다 → 턱·요철을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밟고 나서야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안다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몸통 높이도 절대 높이 → 솟은 지형 위에서는 '높이 떠 있다'고 착각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827713" y="-73382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254000"/>
            <a:ext cx="9055100" cy="16129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Problem Formulation &amp; Research Hypothesis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연구 가설: '발바닥 감각'을 주면 처음 보는 바닥에서도 걸을 수 있다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2697480"/>
          <a:ext cx="1609343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477"/>
                <a:gridCol w="6211503"/>
                <a:gridCol w="7152639"/>
                <a:gridCol w="1505818"/>
              </a:tblGrid>
              <a:tr h="13258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1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가설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1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어떻게 검증하는가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1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해결 대상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H1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원인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바닥이 어떤 바닥인지 알면, </a:t>
                      </a: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정책 하나로</a:t>
                      </a: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평지 질주와 험지 보행을 모두 잘할 수 있다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정답 바닥 정보(마찰·질량·평면 여부)를 직접 받는 </a:t>
                      </a: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교사</a:t>
                      </a: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정책이 두 환경 모두에서 Baseline보다 높은가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P1, P2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H2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추정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바닥 정보는 </a:t>
                      </a: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발바닥 감각과 최근 움직임</a:t>
                      </a: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에 드러나므로, 정답 없이도 추정할 수 있다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정답 없이 발 접촉 센서 + 최근 0.13초 기록만 가진 </a:t>
                      </a: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학생</a:t>
                      </a: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정책이 교사 성능을 회복하는가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P2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H3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일반화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실제 감각으로 판단하므로 </a:t>
                      </a:r>
                      <a:r>
                        <a:rPr sz="20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학습에서 보지 못한 바닥</a:t>
                      </a: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에서도 통한다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학습에 쓰지 않은 지형·물성, 마찰 0.1~2.0에서 학생과 Baseline을 비교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P3 (+P1)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97280" y="8183879"/>
            <a:ext cx="16093440" cy="100584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94310" bIns="194310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비유  사람은 빙판을 밟는 순간 미끄러움을 느끼고 보폭을 줄인다. Baseline Ant에게 없는 것이 바로 이 </a:t>
            </a: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'발바닥 감각'</a:t>
            </a: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>
            <a:extLst>
              <a:ext uri="{FF2B5EF4-FFF2-40B4-BE49-F238E27FC236}">
                <a16:creationId xmlns:a16="http://schemas.microsoft.com/office/drawing/2014/main" id="{6724ABC8-7FA5-F4D4-6FE2-95322E4F151C}"/>
              </a:ext>
            </a:extLst>
          </p:cNvPr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FD78A61-CB22-B20E-D5A4-A7C2F4ACF589}"/>
              </a:ext>
            </a:extLst>
          </p:cNvPr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46DBFC4-E3A8-A6D8-F2E8-5ACC111FB88C}"/>
              </a:ext>
            </a:extLst>
          </p:cNvPr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97927B-0006-0DC5-F88F-A34826C2C7FA}"/>
              </a:ext>
            </a:extLst>
          </p:cNvPr>
          <p:cNvSpPr txBox="1"/>
          <p:nvPr/>
        </p:nvSpPr>
        <p:spPr>
          <a:xfrm>
            <a:off x="2108200" y="622300"/>
            <a:ext cx="90551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Experimental Design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0FDCE65-E5BD-2445-108D-3A621B4C5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검증 환경은 지형 종류·바닥 재질·물성 모두 학습과 다르게 구성했다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2697480"/>
          <a:ext cx="1609344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5760720"/>
                <a:gridCol w="5486400"/>
              </a:tblGrid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구분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Baseline 학습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Ours 학습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검증 환경 (학습에 미사용)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지형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평면 바닥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평면 30% + 요철(≤6 cm)·경사·계단(≤10 cm)·박스(≤8 cm)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파도·장애물</a:t>
                      </a: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(처음 보는 종류)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+ 거친 요철 ≤10 cm (학습의 1.7배)</a:t>
                      </a:r>
                    </a:p>
                  </a:txBody>
                  <a:tcPr marL="128016" marR="128016" marT="64008" marB="64008" anchor="ctr">
                    <a:solidFill>
                      <a:srgbClr val="E3EE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바닥 재질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완벽한 평면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평면 + 메쉬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메쉬만</a:t>
                      </a:r>
                    </a:p>
                  </a:txBody>
                  <a:tcPr marL="128016" marR="128016" marT="64008" marB="64008" anchor="ctr">
                    <a:solidFill>
                      <a:srgbClr val="E3EE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마찰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1.0 고정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0.4~1.2 (로봇마다 다름)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0.3~0.7</a:t>
                      </a: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(발 닿는 면마다 다름)</a:t>
                      </a:r>
                    </a:p>
                  </a:txBody>
                  <a:tcPr marL="128016" marR="128016" marT="64008" marB="64008" anchor="ctr">
                    <a:solidFill>
                      <a:srgbClr val="E3EE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질량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고정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×0.8~1.2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×0.7~1.3</a:t>
                      </a: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(학습보다 넓음)</a:t>
                      </a:r>
                    </a:p>
                  </a:txBody>
                  <a:tcPr marL="128016" marR="128016" marT="64008" marB="64008" anchor="ctr">
                    <a:solidFill>
                      <a:srgbClr val="E3EE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외부 충격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없음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4~8초마다 밀기 ±0.5 m/s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출발 방향 ±30°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없음</a:t>
                      </a:r>
                    </a:p>
                  </a:txBody>
                  <a:tcPr marL="128016" marR="128016" marT="64008" marB="64008" anchor="ctr">
                    <a:solidFill>
                      <a:srgbClr val="E3EE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난이도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–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멀리 갈수록 어려워짐 (20단계)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동일 구조, 지형 생성 seed 24 고정</a:t>
                      </a:r>
                    </a:p>
                  </a:txBody>
                  <a:tcPr marL="128016" marR="128016" marT="64008" marB="64008" anchor="ctr">
                    <a:solidFill>
                      <a:srgbClr val="E3EE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97280" y="7863840"/>
            <a:ext cx="16093440" cy="132588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평가 방법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공식 스크립트 play_one_episode.py · seed 24 · 로봇 100마리 ·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원본 Ant 보상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으로 채점 (전진·생존·자세·에너지 등)   |  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기존 환경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: 원래 실력을 잃지 않았나? 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처음 보는 환경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: 일반화되었나?   |   평균 ± 표준편차, 95% 신뢰구간, Welch t-test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>
            <a:extLst>
              <a:ext uri="{FF2B5EF4-FFF2-40B4-BE49-F238E27FC236}">
                <a16:creationId xmlns:a16="http://schemas.microsoft.com/office/drawing/2014/main" id="{6724ABC8-7FA5-F4D4-6FE2-95322E4F151C}"/>
              </a:ext>
            </a:extLst>
          </p:cNvPr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FD78A61-CB22-B20E-D5A4-A7C2F4ACF589}"/>
              </a:ext>
            </a:extLst>
          </p:cNvPr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46DBFC4-E3A8-A6D8-F2E8-5ACC111FB88C}"/>
              </a:ext>
            </a:extLst>
          </p:cNvPr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97927B-0006-0DC5-F88F-A34826C2C7FA}"/>
              </a:ext>
            </a:extLst>
          </p:cNvPr>
          <p:cNvSpPr txBox="1"/>
          <p:nvPr/>
        </p:nvSpPr>
        <p:spPr>
          <a:xfrm>
            <a:off x="2108200" y="622300"/>
            <a:ext cx="90551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Experimental Design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0FDCE65-E5BD-2445-108D-3A621B4C5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추가 센서: Ant에게 '발바닥 감각'과 '짧은 기억'을 주었다</a:t>
            </a:r>
          </a:p>
        </p:txBody>
      </p:sp>
      <p:pic>
        <p:nvPicPr>
          <p:cNvPr id="8" name="Picture 7" descr="fig0_method_teacher_stud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697480"/>
            <a:ext cx="9692640" cy="460459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7280" y="7452360"/>
            <a:ext cx="9326880" cy="173736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2단계 학습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① 교사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PPO 2000회, 원본 보상 + 정답 물성   →  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② 학생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교사 행동 모방(DAgger) 1500회   →  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③ 배포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학생만 사용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로봇 구조·USD·보상은 원본 그대로 (센서만 추가)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0" y="2697480"/>
            <a:ext cx="6400800" cy="150876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55448" bIns="155448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발 접촉 센서 ×4 (16개 값)  → P2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발마다 누르는 힘, 미는 힘,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마찰 사용량</a:t>
            </a: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(미는 힘 ÷ 누르는 힘, 1에 가까울수록 미끄러지기 직전), 닿은 채 미끄러지는 속도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4315968"/>
            <a:ext cx="6400800" cy="150876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55448" bIns="155448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최근 8스텝 기록 (0.13초, 304개)  → P2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관절 속도·행동·몸통 속도·발 접촉의 변화 → '디딜 때마다 조금씩 밀린다' 같은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패턴</a:t>
            </a: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을 포착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0" y="5934456"/>
            <a:ext cx="6400800" cy="150876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55448" bIns="155448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높이맵 (273개)  → P3, 보조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몸 앞 1.5 m, 뒤 0.5 m, 좌우 0.6 m를 10 cm 간격으로 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7552944"/>
            <a:ext cx="6400800" cy="1508760"/>
          </a:xfrm>
          <a:prstGeom prst="roundRect">
            <a:avLst>
              <a:gd name="adj" fmla="val 8000"/>
            </a:avLst>
          </a:prstGeom>
          <a:solidFill>
            <a:srgbClr val="E4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55448" bIns="155448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교사 전용 정답 물성 (3개)  → H1 검증용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마찰, 질량 비율, 평면 바닥 여부. 실제 로봇은 알 수 없으므로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배포하지 않는다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>
            <a:extLst>
              <a:ext uri="{FF2B5EF4-FFF2-40B4-BE49-F238E27FC236}">
                <a16:creationId xmlns:a16="http://schemas.microsoft.com/office/drawing/2014/main" id="{6724ABC8-7FA5-F4D4-6FE2-95322E4F151C}"/>
              </a:ext>
            </a:extLst>
          </p:cNvPr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FD78A61-CB22-B20E-D5A4-A7C2F4ACF589}"/>
              </a:ext>
            </a:extLst>
          </p:cNvPr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46DBFC4-E3A8-A6D8-F2E8-5ACC111FB88C}"/>
              </a:ext>
            </a:extLst>
          </p:cNvPr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97927B-0006-0DC5-F88F-A34826C2C7FA}"/>
              </a:ext>
            </a:extLst>
          </p:cNvPr>
          <p:cNvSpPr txBox="1"/>
          <p:nvPr/>
        </p:nvSpPr>
        <p:spPr>
          <a:xfrm>
            <a:off x="2108200" y="622300"/>
            <a:ext cx="90551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Experimental Design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0FDCE65-E5BD-2445-108D-3A621B4C5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가설 검증을 위한 설계: 가설마다 비교 대상을 하나씩 정했다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2697480"/>
          <a:ext cx="1609343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949439"/>
                <a:gridCol w="7132320"/>
              </a:tblGrid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가설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비교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판단 기준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H1 원인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교사 vs Baseline (기존 / 처음 보는 환경)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바닥 정보가 있으면 두 환경 모두 Baseline보다 높은가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H2 추정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학생 vs 교사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정답 없이 교사 성능에 얼마나 근접하는가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H3 일반화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학생 vs Baseline (처음 보는 환경 · 지형별 · 마찰 0.1~2.0)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학습 밖 모든 조건에서 Baseline보다 높은가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상한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오라클: 처음 보는 환경에서 직접 학습 (제출 X)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이 시뮬레이터에서 도달 가능한 최대 점수 (67.2)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97280" y="6263640"/>
            <a:ext cx="3822191" cy="2926080"/>
          </a:xfrm>
          <a:prstGeom prst="roundRect">
            <a:avLst>
              <a:gd name="adj" fmla="val 781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로봇마다 마찰 하나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원래 방식은 부품마다 마찰을 따로 뽑아 로봇 전체 평균이 거의 같아진다 → 추정할 '바닥 차이'가 사라짐.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로봇 하나 = 바닥 하나</a:t>
            </a: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로 변경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7391" y="6263640"/>
            <a:ext cx="3822191" cy="2926080"/>
          </a:xfrm>
          <a:prstGeom prst="roundRect">
            <a:avLst>
              <a:gd name="adj" fmla="val 781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'웅크리기 꼼수' 차단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원래 넘어짐 판정(몸통 절대 높이 &lt; 0.31 m)은 솟은 지형 위에서 몸을 낮게 깔아도 통과 →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학습 중에만</a:t>
            </a: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지형 기준 높이로 판정. 평가는 원래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77502" y="6263640"/>
            <a:ext cx="3822191" cy="2926080"/>
          </a:xfrm>
          <a:prstGeom prst="roundRect">
            <a:avLst>
              <a:gd name="adj" fmla="val 781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오라클로 상한 측정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처음 보는 환경에서 직접 학습한 정책도 67.2 → 정책의 한계와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시뮬레이터 접촉 모델의 한계</a:t>
            </a: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를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67613" y="6263640"/>
            <a:ext cx="3822191" cy="2926080"/>
          </a:xfrm>
          <a:prstGeom prst="roundRect">
            <a:avLst>
              <a:gd name="adj" fmla="val 781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학습 반복 (seed)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교사-학생 전체 과정을 서로 다른 seed로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2회</a:t>
            </a: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반복해 결과가 재현되는지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126873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Performance Evaluation &amp; Analysis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주요 결과: 처음 보는 환경 +78%, 기존 환경 성능은 그대로 유지</a:t>
            </a:r>
          </a:p>
        </p:txBody>
      </p:sp>
      <p:pic>
        <p:nvPicPr>
          <p:cNvPr id="8" name="Picture 7" descr="fig2_main_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697480"/>
            <a:ext cx="10972800" cy="4807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35840" y="274320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2A78D6"/>
                </a:solidFill>
                <a:latin typeface="Pretendard Bold"/>
                <a:ea typeface="Pretendard Bold"/>
                <a:cs typeface="Pretendard Bold"/>
              </a:rPr>
              <a:t>+78%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처음 보는 환경  36.3 → 64.6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p = 8×10⁻¹⁵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0" y="484632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2A78D6"/>
                </a:solidFill>
                <a:latin typeface="Pretendard Bold"/>
                <a:ea typeface="Pretendard Bold"/>
                <a:cs typeface="Pretendard Bold"/>
              </a:rPr>
              <a:t>96%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오라클 상한(67.2) 대비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처음 보는 환경을 본 적 없이 도달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0" y="69494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138.4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기존 환경 (Baseline 129.6)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성능 유지 (+8.8, p = 0.06)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89154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교사† = 정답 바닥 정보를 받는 참고용 정책 (배포 불가). 최종 제출 정책은 학생(Ours).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126873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Performance Evaluation &amp; Analysis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Baseline 비교: 세 가설 모두 결과로 지지된다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2697480"/>
          <a:ext cx="69494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23160"/>
                <a:gridCol w="2423160"/>
              </a:tblGrid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정책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기존 환경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처음 보는 환경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1" i="0">
                          <a:solidFill>
                            <a:srgbClr val="EB6834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Baseline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129.57 ± 29.68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36.28 ± 18.29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1" i="0">
                          <a:solidFill>
                            <a:srgbClr val="2A78D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Ours (학생)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138.35 ± 36.05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64.64 ± 27.65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1" i="0">
                          <a:solidFill>
                            <a:srgbClr val="1BAF7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교사†</a:t>
                      </a:r>
                      <a:r>
                        <a:rPr sz="18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(참고)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145.48 ± 27.84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8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56.75 ± 28.21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544068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7A7A7A"/>
                </a:solidFill>
                <a:latin typeface="Pretendard Regular"/>
                <a:ea typeface="Pretendard Regular"/>
                <a:cs typeface="Pretendard Regular"/>
              </a:rPr>
              <a:t>평균 ± 표준편차, 100마리. 공식 스크립트 출력값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697480"/>
            <a:ext cx="8961120" cy="20574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6537" bIns="18653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R1 → H1 지지   바닥을 알면 trade-off가 사라진다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교사: 기존 환경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145.5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(Baseline +15.9, p = 0.0001), 처음 보는 환경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56.7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(+20.5). 평지에서는 더 빨리(9.8 vs 8.6 m/s), 험지에서도 버틴다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910328"/>
            <a:ext cx="8961120" cy="20574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6537" bIns="18653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R2 → H2 지지   발바닥 감각만으로 바닥을 추정한다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학생: 정답 바닥 정보 없이 기존 환경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138.4 = 교사의 95%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. 발 접촉 + 0.13초 기록만으로 지금 밟는 바닥을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7123176"/>
            <a:ext cx="8961120" cy="20574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6537" bIns="186537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R3 → H3 지지   처음 보는 환경으로 일반화된다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학생: 처음 보는 환경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64.6 = Baseline +78%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. 교사보다도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+7.9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높다 (p = 0.048)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126873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Performance Evaluation &amp; Analysis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환경별 성능 차이: 지형 3종, 마찰 9개 조건 모두에서 Baseline을 앞섰다</a:t>
            </a:r>
          </a:p>
        </p:txBody>
      </p:sp>
      <p:pic>
        <p:nvPicPr>
          <p:cNvPr id="8" name="Picture 7" descr="fig3_per_ter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673228"/>
            <a:ext cx="8138160" cy="4391903"/>
          </a:xfrm>
          <a:prstGeom prst="rect">
            <a:avLst/>
          </a:prstGeom>
        </p:spPr>
      </p:pic>
      <p:pic>
        <p:nvPicPr>
          <p:cNvPr id="9" name="Picture 8" descr="fig4_friction_swe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7237" y="2651760"/>
            <a:ext cx="8091685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97280" y="7269480"/>
            <a:ext cx="7863840" cy="192024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파도 49.2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76.7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· 장애물 38.5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68.8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· 거친 요철 16.9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44.5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세 지형 모두 p &lt; 10⁻⁵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특정 지형 맞춤이 아닌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전반적 개선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7269480"/>
            <a:ext cx="7863840" cy="192024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학습 범위(0.4~1.2) 밖인 0.1 · 1.5 · 2.0에서도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+14~20점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마찰이 높을수록 두 정책 모두 하락 → 메쉬 위에서 발이 걸리는 현상 (한계에서 다룸)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126873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Performance Evaluation &amp; Analysis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원인 분석 ①: Ours는 같은 시간에 두 배 가까이 멀리 간다 (대신 더 자주 넘어진다)</a:t>
            </a:r>
          </a:p>
        </p:txBody>
      </p:sp>
      <p:pic>
        <p:nvPicPr>
          <p:cNvPr id="8" name="Picture 7" descr="fig5_survival_progress_uns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697480"/>
            <a:ext cx="11247120" cy="52972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2527280" y="2697480"/>
            <a:ext cx="4663440" cy="20574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더 멀리, 더 빨리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16초 전진 거리 39 m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68 m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평균 속도 2.6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5.0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4919472"/>
            <a:ext cx="4663440" cy="182880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대신 더 자주 넘어진다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생존율 81%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58%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멀리 갈수록 지형이 어려워져, 더 어려운 구간까지 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527280" y="6912864"/>
            <a:ext cx="4663440" cy="228600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55448" bIns="155448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학생이 교사보다 강한 이유 (H3)</a:t>
            </a:r>
          </a:p>
          <a:p>
            <a:pPr algn="l" marL="215900" indent="-205104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검증 환경은 발 닿는 면마다 마찰이 달라, 교사의 '정답 마찰(평균값)'이 실제와 어긋난다</a:t>
            </a:r>
          </a:p>
          <a:p>
            <a:pPr algn="l" marL="215900" indent="-205104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학생은 실제 발 감각으로 판단 → 장애물 지형 넘어짐 60% → </a:t>
            </a:r>
            <a:r>
              <a:rPr sz="17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30%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126873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Performance Evaluation &amp; Analysis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원인 분석 ②: 점수 향상은 '전진'에서 나왔고, 학습을 반복해도 재현된다</a:t>
            </a:r>
          </a:p>
        </p:txBody>
      </p:sp>
      <p:pic>
        <p:nvPicPr>
          <p:cNvPr id="8" name="Picture 7" descr="fig6_reward_ter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102652"/>
            <a:ext cx="8503920" cy="3670215"/>
          </a:xfrm>
          <a:prstGeom prst="rect">
            <a:avLst/>
          </a:prstGeom>
        </p:spPr>
      </p:pic>
      <p:pic>
        <p:nvPicPr>
          <p:cNvPr id="9" name="Picture 8" descr="fig7_seed_repea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2949249"/>
            <a:ext cx="7772400" cy="397702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97280" y="7360920"/>
            <a:ext cx="8138160" cy="18288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전진(progress) 38.8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68.0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(+29.2) ≈ 전체 향상 +28.4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에너지·관절 한계 비용은 거의 같다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같은 비용으로 더 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7360920"/>
            <a:ext cx="7680960" cy="18288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처음 보는 환경 seed 0 / 1: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64.6 / 63.7</a:t>
            </a: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→ 안정적으로 재현</a:t>
            </a:r>
          </a:p>
          <a:p>
            <a:pPr algn="l" marL="228600" indent="-217169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기존 환경 138.4 / 130.8 → 둘 다 Baseline 이상이나 편차 있음 → </a:t>
            </a:r>
            <a:r>
              <a:rPr sz="18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'유지'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90551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Future Directions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가설 검증 결과: 바닥을 '느끼게' 하자, 처음 보는 바닥에서도 걸었다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2697480"/>
          <a:ext cx="16093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120640"/>
                <a:gridCol w="5669280"/>
                <a:gridCol w="2011680"/>
              </a:tblGrid>
              <a:tr h="1051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문제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해결 방법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판정</a:t>
                      </a:r>
                    </a:p>
                  </a:txBody>
                  <a:tcPr marL="128016" marR="128016" marT="64008" marB="64008" anchor="ctr">
                    <a:solidFill>
                      <a:srgbClr val="0E6D62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P1 한 가지 바닥만 경험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다양한 지형·물성 학습 + 바닥별 보법을 아는 교사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교사: 기존 145.5 / 처음 보는 56.7 (둘 다 Baseline↑)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H1 지지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P2 바닥을 느낄 수 없음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발 접촉 센서 + 0.13초 기록 → 학생이 교사 모방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학생: 정답 없이 교사 평지 성능의 95%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H2 지지</a:t>
                      </a:r>
                    </a:p>
                  </a:txBody>
                  <a:tcPr marL="128016" marR="128016" marT="64008" marB="64008" anchor="ctr">
                    <a:solidFill>
                      <a:srgbClr val="F4F4F2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P3 앞을 볼 수 없음 /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1" i="0">
                          <a:solidFill>
                            <a:srgbClr val="1A1A1A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처음 보는 환경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높이맵(보조) + 실제 감각 기반 판단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처음 보는 환경 +78%, 지형 3종·마찰 9조건 모두 개선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H3 지지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900" b="0" i="0">
                          <a:solidFill>
                            <a:srgbClr val="1A1A1A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(거친 요철은 부분)</a:t>
                      </a:r>
                    </a:p>
                  </a:txBody>
                  <a:tcPr marL="128016" marR="128016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97280" y="7178040"/>
            <a:ext cx="16093440" cy="2011680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7627" bIns="217627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결론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Ant가 처음 보는 환경에서 무너진 핵심 원인은 </a:t>
            </a: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바닥이 어떤 바닥인지 모른다는 것</a:t>
            </a: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이었다. 발 접촉과 짧은 기록으로 이를 추정하는 교사-학생 구조로 </a:t>
            </a: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처음 보는 환경 +78%</a:t>
            </a: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를 </a:t>
            </a: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기존 환경 성능 손실 없이</a:t>
            </a:r>
            <a:r>
              <a:rPr sz="21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달성했다.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90551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Future Directions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현재 모델의 한계: 빨라진 대신 넘어짐이 늘었고, 시뮬레이터 상한이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5184648" cy="3063240"/>
          </a:xfrm>
          <a:prstGeom prst="roundRect">
            <a:avLst>
              <a:gd name="adj" fmla="val 746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2082" bIns="20208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3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① 넘어짐 증가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처음 보는 환경 생존율 81% →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58%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. 빠른 보법을 선택한 대가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6248" y="2697480"/>
            <a:ext cx="5184648" cy="3063240"/>
          </a:xfrm>
          <a:prstGeom prst="roundRect">
            <a:avLst>
              <a:gd name="adj" fmla="val 746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2082" bIns="20208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3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② 학습보다 거친 지형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거친 요철(10 cm)에서 학생 44.5 &lt; 교사 56.1, 학생 넘어짐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53%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. 거칠어도 감속하지 않음 → 0.13초 기록으로는 부족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15215" y="2697480"/>
            <a:ext cx="5184648" cy="3063240"/>
          </a:xfrm>
          <a:prstGeom prst="roundRect">
            <a:avLst>
              <a:gd name="adj" fmla="val 746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2082" bIns="20208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3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③ 시뮬레이터 상한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처음 보는 환경에서 직접 학습한 오라클도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67.2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. 메쉬 바닥에서는 평면 수준(130) 불가 → 정책이 아닌 접촉 모델의 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989320"/>
            <a:ext cx="5184648" cy="3063240"/>
          </a:xfrm>
          <a:prstGeom prst="roundRect">
            <a:avLst>
              <a:gd name="adj" fmla="val 7462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2082" bIns="20208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3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④ 고마찰 약점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마찰 0.4 → 2.0에서 65.3 →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38.5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. 메쉬 위에서 발이 걸리는 현상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5989320"/>
            <a:ext cx="5184648" cy="3063240"/>
          </a:xfrm>
          <a:prstGeom prst="roundRect">
            <a:avLst>
              <a:gd name="adj" fmla="val 7462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2082" bIns="20208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3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⑤ 기존 환경 향상은 '유지' 수준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+8.8은 p = 0.06, 두 번째 seed에서는 130.8 → 향상이라고 단정하기 어렵다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15215" y="5989320"/>
            <a:ext cx="5184648" cy="3063240"/>
          </a:xfrm>
          <a:prstGeom prst="roundRect">
            <a:avLst>
              <a:gd name="adj" fmla="val 7462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2082" bIns="20208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3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가장 큰 과제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빠르게 걷는 능력은 얻었다. 다음은 </a:t>
            </a:r>
            <a:r>
              <a:rPr sz="20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위험한 바닥을 알아채고 속도를 줄이는 능력</a:t>
            </a:r>
            <a:r>
              <a:rPr sz="20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이다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0000">
            <a:off x="-1993900" y="6311900"/>
            <a:ext cx="7112000" cy="4749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1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2992100" y="-762000"/>
            <a:ext cx="7112000" cy="4749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66700" y="-292100"/>
            <a:ext cx="2641600" cy="2362200"/>
          </a:xfrm>
          <a:prstGeom prst="rect">
            <a:avLst/>
          </a:prstGeom>
        </p:spPr>
        <p:txBody>
          <a:bodyPr lIns="0" tIns="167358" rIns="0" bIns="167358" rtlCol="0" anchor="ctr"/>
          <a:lstStyle/>
          <a:p>
            <a:pPr lvl="0" algn="ctr">
              <a:lnSpc>
                <a:spcPct val="99600"/>
              </a:lnSpc>
            </a:pPr>
            <a:r>
              <a:rPr lang="en-US" sz="13177" b="0" i="0" u="none" strike="noStrike">
                <a:solidFill>
                  <a:srgbClr val="4C4C4C">
                    <a:alpha val="7843"/>
                  </a:srgbClr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8200" y="622300"/>
            <a:ext cx="9055100" cy="8763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cap="all">
                <a:solidFill>
                  <a:srgbClr val="4C4C4C"/>
                </a:solidFill>
                <a:latin typeface="Pretendard Bold"/>
                <a:ea typeface="Pretendard Bold"/>
                <a:cs typeface="Pretendard Bold"/>
              </a:rPr>
              <a:t>Future Directions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9436100"/>
            <a:ext cx="18313400" cy="863600"/>
          </a:xfrm>
          <a:prstGeom prst="rect">
            <a:avLst/>
          </a:prstGeom>
        </p:spPr>
      </p:pic>
      <p:sp>
        <p:nvSpPr>
          <p:cNvPr id="7" name="Message"/>
          <p:cNvSpPr txBox="1"/>
          <p:nvPr/>
        </p:nvSpPr>
        <p:spPr>
          <a:xfrm>
            <a:off x="1097280" y="1828800"/>
            <a:ext cx="1609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추가 고려 요소와 향후 개선 방향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6949440" cy="6492240"/>
          </a:xfrm>
          <a:prstGeom prst="roundRect">
            <a:avLst>
              <a:gd name="adj" fmla="val 3521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33172" bIns="23317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3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추가로 시도한 것 (부차 실험)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마찰 범위 확대 (0.1~2.0)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저마찰(0.2)에서는 +7.4 개선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그러나 기존 환경 121.3 →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Baseline 아래로 하락</a:t>
            </a:r>
          </a:p>
          <a:p>
            <a:pPr algn="l" marL="241300" indent="-229235">
              <a:lnSpc>
                <a:spcPct val="110000"/>
              </a:lnSpc>
              <a:spcAft>
                <a:spcPts val="16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→ 범위를 넓히는 것만으로는 해결되지 않는다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몸통 IMU(기울기) 추가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기존 관측(기울기·자세)과 정보가 겹친다</a:t>
            </a:r>
          </a:p>
          <a:p>
            <a:pPr algn="l" marL="241300" indent="-229235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기존 122.8 / 처음 보는 55.5 → </a:t>
            </a:r>
            <a:r>
              <a:rPr sz="1900" b="1" i="0">
                <a:solidFill>
                  <a:srgbClr val="1A1A1A"/>
                </a:solidFill>
                <a:latin typeface="Pretendard Bold"/>
                <a:ea typeface="Pretendard Bold"/>
                <a:cs typeface="Pretendard Bold"/>
              </a:rPr>
              <a:t>이득 없음</a:t>
            </a:r>
            <a:r>
              <a:rPr sz="19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 (seed 1회)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697480"/>
            <a:ext cx="8778240" cy="1517904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위험 인지 감속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추정한 바닥이 위험하면 스스로 속도를 낮추는 보법 → 생존율 개선 (한계 ①②)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352544"/>
            <a:ext cx="8778240" cy="1517904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더 긴 기억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0.13초 → 수 초 단위 접촉 기록을 GRU·1D-CNN으로 압축 (RMA의 adaptation module 방식) (한계 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6007607"/>
            <a:ext cx="8778240" cy="1517904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학습 지형 다양화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더 거친 요철을 학습에 넣고, 검증용 미학습 지형은 새로 구성해 공정성 유지 (한계 ②④)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7662671"/>
            <a:ext cx="8778240" cy="1517904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70992" bIns="17099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0E6D62"/>
                </a:solidFill>
                <a:latin typeface="Pretendard Bold"/>
                <a:ea typeface="Pretendard Bold"/>
                <a:cs typeface="Pretendard Bold"/>
              </a:rPr>
              <a:t>검증 확대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학습 seed 3회 이상 반복, 다른 접촉 모델·실제 로봇으로 전이 (Sim-to-Real) (한계 ③⑤)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285</Words>
  <Application>Microsoft Office PowerPoint</Application>
  <PresentationFormat>사용자 지정</PresentationFormat>
  <Paragraphs>51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ExtraLight</vt:lpstr>
      <vt:lpstr>Arial</vt:lpstr>
      <vt:lpstr>Pretendard Regular</vt:lpstr>
      <vt:lpstr>Pretendard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윤다빈</cp:lastModifiedBy>
  <cp:revision>3</cp:revision>
  <dcterms:created xsi:type="dcterms:W3CDTF">2006-08-16T00:00:00Z</dcterms:created>
  <dcterms:modified xsi:type="dcterms:W3CDTF">2026-10-05T09:25:19Z</dcterms:modified>
</cp:coreProperties>
</file>